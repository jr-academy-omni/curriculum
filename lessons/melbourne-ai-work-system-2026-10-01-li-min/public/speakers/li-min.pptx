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34" dt="2026-09-29T08:20:59.754"/>
    <p1510:client id="{B806639B-6DA4-D76D-B67F-3C8EA22A4617}" v="2" dt="2026-09-29T08:13:21.0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开场：不从技术讲起，先讲会计行业最现实的价格、质量和时间矛盾。,[Sources],User-provided concepts and examples; user-provided event poster used on cover.,[/Sources]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例子：客户看到Tax Return一页数字，会计师却要对银行、总账、BAS、工资和支持文件。,[Sources],User-provided concepts and examples; user-provided event poster used on cover.,[/Sources]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“偷工减料”不一定是故意，而是有限收费下优先完成客户看得到的结果。,[Sources],User-provided concepts and examples; user-provided event poster used on cover.,[/Sources]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由机械整理转到高价值咨询，才是真正物美价廉。,[Sources],User-provided concepts and examples; user-provided event poster used on cover.,[/Sources]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例子：问“公司替我付私人费用能否扣税”，还要确认股东关系、账务处理、工资或借款、Division 7A等。,[Sources],User-provided concepts and examples; user-provided event poster used on cover.,[/Sources]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GST例子：收入低于门槛还要确认相关业务、预计未来12个月、个人转公司等背景。,[Sources],User-provided concepts and examples; user-provided event poster used on cover.,[/Sources]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集团例子：A公司应收50万，B公司应付47万，AI找差异，会计师查原因。,[Sources],User-provided concepts and examples; user-provided event poster used on cover.,[/Sources]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互动：银行总入账107,800，Sales是不是107,800？答案是不一定。,[Sources],User-provided concepts and examples; user-provided event poster used on cover.,[/Sources]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实际例子：AirPods、硬盘、停车、软件。相同付款证据，不同业务用途，处理不同。,[Sources],User-provided concepts and examples; user-provided event poster used on cover.,[/Sources]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实际例子：无invoice、付款时无ABN、重复invoice、境外供应商、employee vs contractor。,[Sources],User-provided concepts and examples; user-provided event poster used on cover.,[/Sources]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讲GST payable、retained earnings、工资/STP、inter-entity不一致的实例。,[Sources],User-provided concepts and examples; user-provided event poster used on cover.,[/Sources]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强调AI不是第四级员工，而是支持Assistant、Accountant、Principal。,[Sources],User-provided concepts and examples; user-provided event poster used on cover.,[/Sources]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例子：100张invoice提取日期、供应商、金额、GST、ABN和重复项，异常交人工。,[Sources],User-provided concepts and examples; user-provided event poster used on cover.,[/Sources]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把“省小时”升级为“少漏项、早发现、少返工、多建议”。,[Sources],User-provided concepts and examples; user-provided event poster used on cover.,[/Sources]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结束：客户期待物美价廉，AI让质量过程不再全部由人工时间承担。,[Sources],User-provided concepts and examples; user-provided event poster used on cover.,[/Sources]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E1420"/>
          </a:solidFill>
          <a:ln w="12700">
            <a:solidFill>
              <a:srgbClr val="8E142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4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MELBOURNE · AI &amp; BUSINESS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646920" y="2011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23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 TAX SOLUTION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2700">
            <a:solidFill>
              <a:srgbClr val="D9CDB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502920" y="65836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B6A5A"/>
                </a:solidFill>
              </a:rPr>
              <a:t>李敏 · Bupa受邀分享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784080" y="6583680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B6A5A"/>
                </a:solidFill>
              </a:rPr>
              <a:t>2026.10.01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6539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B6A5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6539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B6A5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640080" y="1078992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123B6D"/>
                </a:solidFill>
              </a:rPr>
              <a:t>AI对会计行业的影响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676656" y="2249424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8E1420"/>
                </a:solidFill>
              </a:rPr>
              <a:t>如何让专业服务真正做到「物美价廉」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694944" y="2971800"/>
            <a:ext cx="5394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2733"/>
                </a:solidFill>
              </a:rPr>
              <a:t>从数据整理、风险识别到专业判断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94944" y="384048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23B6D"/>
                </a:solidFill>
              </a:rPr>
              <a:t>李敏  |  资深注册会计师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23B6D"/>
                </a:solidFill>
              </a:rPr>
              <a:t>ML Tax Solution 创始人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94944" y="4800600"/>
            <a:ext cx="2834640" cy="347472"/>
          </a:xfrm>
          <a:prstGeom prst="rect">
            <a:avLst/>
          </a:prstGeom>
          <a:solidFill>
            <a:srgbClr val="8E1420"/>
          </a:solidFill>
          <a:ln>
            <a:solidFill>
              <a:srgbClr val="8E142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15分钟 · 老板 / 高管专场</a:t>
            </a:r>
            <a:endParaRPr lang="en-US" sz="1200" dirty="0"/>
          </a:p>
        </p:txBody>
      </p:sp>
      <p:pic>
        <p:nvPicPr>
          <p:cNvPr id="7" name="Image 0" descr="/mnt/data/Image_20260929171932.jpg"/>
          <p:cNvPicPr>
            <a:picLocks noChangeAspect="1"/>
          </p:cNvPicPr>
          <p:nvPr/>
        </p:nvPicPr>
        <p:blipFill>
          <a:blip r:embed="rId3"/>
          <a:srcRect t="1461" b="1461"/>
          <a:stretch/>
        </p:blipFill>
        <p:spPr>
          <a:xfrm>
            <a:off x="7388352" y="658368"/>
            <a:ext cx="4224528" cy="54681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187184" y="658368"/>
            <a:ext cx="164592" cy="5468112"/>
          </a:xfrm>
          <a:prstGeom prst="rect">
            <a:avLst/>
          </a:prstGeom>
          <a:solidFill>
            <a:srgbClr val="C99545">
              <a:alpha val="92000"/>
            </a:srgbClr>
          </a:solidFill>
          <a:ln w="12700">
            <a:solidFill>
              <a:srgbClr val="C995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6539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B6A5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60350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8E1420"/>
                </a:solidFill>
              </a:rPr>
              <a:t>PAIN POINT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23B6D"/>
                </a:solidFill>
              </a:rPr>
              <a:t>客户要的是结果，会计师承担的是过程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53619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</a:rPr>
              <a:t>一份看似简单的报表，背后是一整套核对、判断与责任。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2057400"/>
            <a:ext cx="3383280" cy="3108960"/>
          </a:xfrm>
          <a:prstGeom prst="roundRect">
            <a:avLst>
              <a:gd name="adj" fmla="val 2353"/>
            </a:avLst>
          </a:prstGeom>
          <a:solidFill>
            <a:srgbClr val="FFFDF8"/>
          </a:solidFill>
          <a:ln w="12700">
            <a:solidFill>
              <a:srgbClr val="E4D8C8"/>
            </a:solidFill>
            <a:prstDash val="solid"/>
          </a:ln>
          <a:effectLst>
            <a:outerShdw blurRad="25400" dist="127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685800" y="2057400"/>
            <a:ext cx="73152" cy="3108960"/>
          </a:xfrm>
          <a:prstGeom prst="rect">
            <a:avLst/>
          </a:prstGeom>
          <a:solidFill>
            <a:srgbClr val="8E1420"/>
          </a:solidFill>
          <a:ln w="12700">
            <a:solidFill>
              <a:srgbClr val="8E142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868680" y="221284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23B6D"/>
                </a:solidFill>
              </a:rPr>
              <a:t>客户希望得到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642616"/>
            <a:ext cx="3035808" cy="2414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200" dirty="0">
                <a:solidFill>
                  <a:srgbClr val="1C2733"/>
                </a:solidFill>
              </a:rPr>
              <a:t>价格合理</a:t>
            </a:r>
            <a:endParaRPr lang="en-US" sz="1200" dirty="0"/>
          </a:p>
          <a:p>
            <a:r>
              <a:rPr lang="en-US" sz="1200" dirty="0">
                <a:solidFill>
                  <a:srgbClr val="1C2733"/>
                </a:solidFill>
              </a:rPr>
              <a:t>账目正确</a:t>
            </a:r>
            <a:endParaRPr lang="en-US" sz="1200" dirty="0"/>
          </a:p>
          <a:p>
            <a:r>
              <a:rPr lang="en-US" sz="1200" dirty="0">
                <a:solidFill>
                  <a:srgbClr val="1C2733"/>
                </a:solidFill>
              </a:rPr>
              <a:t>税务合规</a:t>
            </a:r>
            <a:endParaRPr lang="en-US" sz="1200" dirty="0"/>
          </a:p>
          <a:p>
            <a:r>
              <a:rPr lang="en-US" sz="1200" dirty="0">
                <a:solidFill>
                  <a:srgbClr val="1C2733"/>
                </a:solidFill>
              </a:rPr>
              <a:t>报表及时</a:t>
            </a:r>
            <a:endParaRPr lang="en-US" sz="1200" dirty="0"/>
          </a:p>
          <a:p>
            <a:r>
              <a:rPr lang="en-US" sz="1200" dirty="0">
                <a:solidFill>
                  <a:srgbClr val="1C2733"/>
                </a:solidFill>
              </a:rPr>
              <a:t>建议到位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07408" y="2057400"/>
            <a:ext cx="3383280" cy="3108960"/>
          </a:xfrm>
          <a:prstGeom prst="roundRect">
            <a:avLst>
              <a:gd name="adj" fmla="val 2353"/>
            </a:avLst>
          </a:prstGeom>
          <a:solidFill>
            <a:srgbClr val="FFFDF8"/>
          </a:solidFill>
          <a:ln w="12700">
            <a:solidFill>
              <a:srgbClr val="E4D8C8"/>
            </a:solidFill>
            <a:prstDash val="solid"/>
          </a:ln>
          <a:effectLst/>
        </p:spPr>
        <p:txBody>
          <a:bodyPr/>
          <a:lstStyle/>
          <a:p>
            <a:endParaRPr lang="en-AU"/>
          </a:p>
        </p:txBody>
      </p:sp>
      <p:sp>
        <p:nvSpPr>
          <p:cNvPr id="10" name="Shape 8"/>
          <p:cNvSpPr/>
          <p:nvPr/>
        </p:nvSpPr>
        <p:spPr>
          <a:xfrm>
            <a:off x="4407408" y="2057400"/>
            <a:ext cx="73152" cy="3108960"/>
          </a:xfrm>
          <a:prstGeom prst="rect">
            <a:avLst/>
          </a:prstGeom>
          <a:solidFill>
            <a:srgbClr val="0B82D8"/>
          </a:solidFill>
          <a:ln w="12700">
            <a:solidFill>
              <a:srgbClr val="0B82D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4590288" y="221284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23B6D"/>
                </a:solidFill>
              </a:rPr>
              <a:t>会计师必须完成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90288" y="2642616"/>
            <a:ext cx="3035808" cy="2414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200" dirty="0">
                <a:solidFill>
                  <a:srgbClr val="1C2733"/>
                </a:solidFill>
              </a:rPr>
              <a:t>资料完整性</a:t>
            </a:r>
            <a:endParaRPr lang="en-US" sz="1200" dirty="0"/>
          </a:p>
          <a:p>
            <a:r>
              <a:rPr lang="en-US" sz="1200" dirty="0">
                <a:solidFill>
                  <a:srgbClr val="1C2733"/>
                </a:solidFill>
              </a:rPr>
              <a:t>银行与总账核对</a:t>
            </a:r>
            <a:endParaRPr lang="en-US" sz="1200" dirty="0"/>
          </a:p>
          <a:p>
            <a:r>
              <a:rPr lang="en-US" sz="1200" dirty="0">
                <a:solidFill>
                  <a:srgbClr val="1C2733"/>
                </a:solidFill>
              </a:rPr>
              <a:t>交易与GST分类</a:t>
            </a:r>
            <a:endParaRPr lang="en-US" sz="1200" dirty="0"/>
          </a:p>
          <a:p>
            <a:r>
              <a:rPr lang="en-US" sz="1200" dirty="0">
                <a:solidFill>
                  <a:srgbClr val="1C2733"/>
                </a:solidFill>
              </a:rPr>
              <a:t>工资与Super检查</a:t>
            </a:r>
            <a:endParaRPr lang="en-US" sz="1200" dirty="0"/>
          </a:p>
          <a:p>
            <a:r>
              <a:rPr lang="en-US" sz="1200" dirty="0">
                <a:solidFill>
                  <a:srgbClr val="1C2733"/>
                </a:solidFill>
              </a:rPr>
              <a:t>证据与最终审核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2057400"/>
            <a:ext cx="3383280" cy="3108960"/>
          </a:xfrm>
          <a:prstGeom prst="roundRect">
            <a:avLst>
              <a:gd name="adj" fmla="val 2353"/>
            </a:avLst>
          </a:prstGeom>
          <a:solidFill>
            <a:srgbClr val="FFFDF8"/>
          </a:solidFill>
          <a:ln w="12700">
            <a:solidFill>
              <a:srgbClr val="E4D8C8"/>
            </a:solidFill>
            <a:prstDash val="solid"/>
          </a:ln>
          <a:effectLst/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8138160" y="2057400"/>
            <a:ext cx="73152" cy="3108960"/>
          </a:xfrm>
          <a:prstGeom prst="rect">
            <a:avLst/>
          </a:prstGeom>
          <a:solidFill>
            <a:srgbClr val="C99545"/>
          </a:solidFill>
          <a:ln w="12700">
            <a:solidFill>
              <a:srgbClr val="C9954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8321040" y="221284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23B6D"/>
                </a:solidFill>
              </a:rPr>
              <a:t>真正的矛盾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21040" y="2642616"/>
            <a:ext cx="3035808" cy="2414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200" dirty="0">
                <a:solidFill>
                  <a:srgbClr val="1C2733"/>
                </a:solidFill>
              </a:rPr>
              <a:t>客户购买最终结果</a:t>
            </a:r>
            <a:endParaRPr lang="en-US" sz="1200" dirty="0"/>
          </a:p>
          <a:p>
            <a:r>
              <a:rPr lang="en-US" sz="1200" dirty="0">
                <a:solidFill>
                  <a:srgbClr val="1C2733"/>
                </a:solidFill>
              </a:rPr>
              <a:t>会计师投入过程成本</a:t>
            </a:r>
            <a:endParaRPr lang="en-US" sz="1200" dirty="0"/>
          </a:p>
          <a:p>
            <a:r>
              <a:rPr lang="en-US" sz="1200" dirty="0">
                <a:solidFill>
                  <a:srgbClr val="1C2733"/>
                </a:solidFill>
              </a:rPr>
              <a:t>客户很难看见核对工作</a:t>
            </a:r>
            <a:endParaRPr lang="en-US" sz="1200" dirty="0"/>
          </a:p>
          <a:p>
            <a:r>
              <a:rPr lang="en-US" sz="1200" dirty="0">
                <a:solidFill>
                  <a:srgbClr val="1C2733"/>
                </a:solidFill>
              </a:rPr>
              <a:t>但错误责任仍由专业人士承担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5650992"/>
            <a:ext cx="10744200" cy="566928"/>
          </a:xfrm>
          <a:prstGeom prst="roundRect">
            <a:avLst/>
          </a:prstGeom>
          <a:solidFill>
            <a:srgbClr val="123B6D"/>
          </a:solidFill>
          <a:ln w="12700">
            <a:solidFill>
              <a:srgbClr val="123B6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960120" y="5751576"/>
            <a:ext cx="10287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客户看到的是一份报表，会计师检查的是报表背后的整个过程。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6539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B6A5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60350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8E1420"/>
                </a:solidFill>
              </a:rPr>
              <a:t>THE TENSION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23B6D"/>
                </a:solidFill>
              </a:rPr>
              <a:t>价格、质量与时间：传统模式的三角矛盾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53619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</a:rPr>
              <a:t>收费通常取决于工作量、复杂程度与时间投入。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 rot="5400000">
            <a:off x="3900425" y="2038790"/>
            <a:ext cx="4193432" cy="2926080"/>
          </a:xfrm>
          <a:prstGeom prst="chevron">
            <a:avLst/>
          </a:prstGeom>
          <a:solidFill>
            <a:srgbClr val="E9DFD2">
              <a:alpha val="75000"/>
            </a:srgbClr>
          </a:solidFill>
          <a:ln w="25400">
            <a:solidFill>
              <a:srgbClr val="CDB9A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1353312" y="3867912"/>
            <a:ext cx="1316736" cy="1316736"/>
          </a:xfrm>
          <a:prstGeom prst="ellipse">
            <a:avLst/>
          </a:prstGeom>
          <a:solidFill>
            <a:srgbClr val="8E1420"/>
          </a:solidFill>
          <a:ln w="25400">
            <a:solidFill>
              <a:srgbClr val="FFFFFF"/>
            </a:solidFill>
            <a:prstDash val="solid"/>
          </a:ln>
          <a:effectLst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1508760" y="43251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价廉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1248" y="5330952"/>
            <a:ext cx="2340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C2733"/>
                </a:solidFill>
              </a:rPr>
              <a:t>客户希望收费更低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41275" y="2967228"/>
            <a:ext cx="1316736" cy="1316736"/>
          </a:xfrm>
          <a:prstGeom prst="ellipse">
            <a:avLst/>
          </a:prstGeom>
          <a:solidFill>
            <a:srgbClr val="123B6D"/>
          </a:solidFill>
          <a:ln w="25400">
            <a:solidFill>
              <a:srgbClr val="FFFFFF"/>
            </a:solidFill>
            <a:prstDash val="solid"/>
          </a:ln>
          <a:effectLst/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5469147" y="3329795"/>
            <a:ext cx="1123677" cy="629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物美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19472" y="4212106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C2733"/>
                </a:solidFill>
              </a:rPr>
              <a:t>正确、合规、可追溯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491472" y="3867912"/>
            <a:ext cx="1316736" cy="1316736"/>
          </a:xfrm>
          <a:prstGeom prst="ellipse">
            <a:avLst/>
          </a:prstGeom>
          <a:solidFill>
            <a:srgbClr val="C99545"/>
          </a:solidFill>
          <a:ln w="25400">
            <a:solidFill>
              <a:srgbClr val="FFFFFF"/>
            </a:solidFill>
            <a:prstDash val="solid"/>
          </a:ln>
          <a:effectLst/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9646920" y="43251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时间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979408" y="5330952"/>
            <a:ext cx="2340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C2733"/>
                </a:solidFill>
              </a:rPr>
              <a:t>核对、调查、判断都需要时间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5742432"/>
            <a:ext cx="10744200" cy="566928"/>
          </a:xfrm>
          <a:prstGeom prst="roundRect">
            <a:avLst/>
          </a:prstGeom>
          <a:solidFill>
            <a:srgbClr val="123B6D"/>
          </a:solidFill>
          <a:ln w="12700">
            <a:solidFill>
              <a:srgbClr val="123B6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960120" y="5843016"/>
            <a:ext cx="10287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当收费被压低但流程没有改善，最容易减少的是客户看不见的检查。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6539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B6A5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60350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8E1420"/>
                </a:solidFill>
              </a:rPr>
              <a:t>THE OPPORTUNITY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23B6D"/>
                </a:solidFill>
              </a:rPr>
              <a:t>AI降低的不是专业标准，而是正确工作的成本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53619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</a:rPr>
              <a:t>把机械时间转化为判断、沟通与建议。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2057400"/>
            <a:ext cx="3246120" cy="3108960"/>
          </a:xfrm>
          <a:prstGeom prst="roundRect">
            <a:avLst>
              <a:gd name="adj" fmla="val 2353"/>
            </a:avLst>
          </a:prstGeom>
          <a:solidFill>
            <a:srgbClr val="FFFDF8"/>
          </a:solidFill>
          <a:ln w="12700">
            <a:solidFill>
              <a:srgbClr val="E4D8C8"/>
            </a:solidFill>
            <a:prstDash val="solid"/>
          </a:ln>
          <a:effectLst/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685800" y="2057400"/>
            <a:ext cx="73152" cy="3108960"/>
          </a:xfrm>
          <a:prstGeom prst="rect">
            <a:avLst/>
          </a:prstGeom>
          <a:solidFill>
            <a:srgbClr val="8E1420"/>
          </a:solidFill>
          <a:ln w="12700">
            <a:solidFill>
              <a:srgbClr val="8E142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868680" y="22128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23B6D"/>
                </a:solidFill>
              </a:rPr>
              <a:t>传统耗时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642616"/>
            <a:ext cx="2898648" cy="2414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200" dirty="0">
                <a:solidFill>
                  <a:srgbClr val="1C2733"/>
                </a:solidFill>
              </a:rPr>
              <a:t>找资料</a:t>
            </a:r>
            <a:endParaRPr lang="en-US" sz="1200" dirty="0"/>
          </a:p>
          <a:p>
            <a:r>
              <a:rPr lang="en-US" sz="1200" dirty="0">
                <a:solidFill>
                  <a:srgbClr val="1C2733"/>
                </a:solidFill>
              </a:rPr>
              <a:t>整理数据</a:t>
            </a:r>
            <a:endParaRPr lang="en-US" sz="1200" dirty="0"/>
          </a:p>
          <a:p>
            <a:r>
              <a:rPr lang="en-US" sz="1200" dirty="0">
                <a:solidFill>
                  <a:srgbClr val="1C2733"/>
                </a:solidFill>
              </a:rPr>
              <a:t>重复录入</a:t>
            </a:r>
            <a:endParaRPr lang="en-US" sz="1200" dirty="0"/>
          </a:p>
          <a:p>
            <a:r>
              <a:rPr lang="en-US" sz="1200" dirty="0">
                <a:solidFill>
                  <a:srgbClr val="1C2733"/>
                </a:solidFill>
              </a:rPr>
              <a:t>人工比较</a:t>
            </a:r>
            <a:endParaRPr lang="en-US" sz="1200" dirty="0"/>
          </a:p>
          <a:p>
            <a:r>
              <a:rPr lang="en-US" sz="1200" dirty="0">
                <a:solidFill>
                  <a:srgbClr val="1C2733"/>
                </a:solidFill>
              </a:rPr>
              <a:t>追踪差异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41648" y="3236976"/>
            <a:ext cx="530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99545"/>
                </a:solidFill>
              </a:rPr>
              <a:t>→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4617720" y="2057400"/>
            <a:ext cx="3246120" cy="3108960"/>
          </a:xfrm>
          <a:prstGeom prst="roundRect">
            <a:avLst>
              <a:gd name="adj" fmla="val 2353"/>
            </a:avLst>
          </a:prstGeom>
          <a:solidFill>
            <a:srgbClr val="FFFDF8"/>
          </a:solidFill>
          <a:ln w="12700">
            <a:solidFill>
              <a:srgbClr val="E4D8C8"/>
            </a:solidFill>
            <a:prstDash val="solid"/>
          </a:ln>
          <a:effectLst/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4617720" y="2057400"/>
            <a:ext cx="73152" cy="3108960"/>
          </a:xfrm>
          <a:prstGeom prst="rect">
            <a:avLst/>
          </a:prstGeom>
          <a:solidFill>
            <a:srgbClr val="0B82D8"/>
          </a:solidFill>
          <a:ln w="12700">
            <a:solidFill>
              <a:srgbClr val="0B82D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4800600" y="22128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23B6D"/>
                </a:solidFill>
              </a:rPr>
              <a:t>AI协助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00600" y="2642616"/>
            <a:ext cx="2898648" cy="2414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200" dirty="0">
                <a:solidFill>
                  <a:srgbClr val="1C2733"/>
                </a:solidFill>
              </a:rPr>
              <a:t>建立资料清单</a:t>
            </a:r>
            <a:endParaRPr lang="en-US" sz="1200" dirty="0"/>
          </a:p>
          <a:p>
            <a:r>
              <a:rPr lang="en-US" sz="1200" dirty="0">
                <a:solidFill>
                  <a:srgbClr val="1C2733"/>
                </a:solidFill>
              </a:rPr>
              <a:t>整理交易</a:t>
            </a:r>
            <a:endParaRPr lang="en-US" sz="1200" dirty="0"/>
          </a:p>
          <a:p>
            <a:r>
              <a:rPr lang="en-US" sz="1200" dirty="0">
                <a:solidFill>
                  <a:srgbClr val="1C2733"/>
                </a:solidFill>
              </a:rPr>
              <a:t>交叉核对</a:t>
            </a:r>
            <a:endParaRPr lang="en-US" sz="1200" dirty="0"/>
          </a:p>
          <a:p>
            <a:r>
              <a:rPr lang="en-US" sz="1200" dirty="0">
                <a:solidFill>
                  <a:srgbClr val="1C2733"/>
                </a:solidFill>
              </a:rPr>
              <a:t>发现异常</a:t>
            </a:r>
            <a:endParaRPr lang="en-US" sz="1200" dirty="0"/>
          </a:p>
          <a:p>
            <a:r>
              <a:rPr lang="en-US" sz="1200" dirty="0">
                <a:solidFill>
                  <a:srgbClr val="1C2733"/>
                </a:solidFill>
              </a:rPr>
              <a:t>提醒遗漏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973568" y="3236976"/>
            <a:ext cx="530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99545"/>
                </a:solidFill>
              </a:rPr>
              <a:t>→</a:t>
            </a:r>
            <a:endParaRPr lang="en-US" sz="3400" dirty="0"/>
          </a:p>
        </p:txBody>
      </p:sp>
      <p:sp>
        <p:nvSpPr>
          <p:cNvPr id="15" name="Shape 13"/>
          <p:cNvSpPr/>
          <p:nvPr/>
        </p:nvSpPr>
        <p:spPr>
          <a:xfrm>
            <a:off x="8549640" y="2057400"/>
            <a:ext cx="2926080" cy="3108960"/>
          </a:xfrm>
          <a:prstGeom prst="roundRect">
            <a:avLst>
              <a:gd name="adj" fmla="val 2500"/>
            </a:avLst>
          </a:prstGeom>
          <a:solidFill>
            <a:srgbClr val="FFFDF8"/>
          </a:solidFill>
          <a:ln w="12700">
            <a:solidFill>
              <a:srgbClr val="E4D8C8"/>
            </a:solidFill>
            <a:prstDash val="solid"/>
          </a:ln>
          <a:effectLst/>
        </p:spPr>
        <p:txBody>
          <a:bodyPr/>
          <a:lstStyle/>
          <a:p>
            <a:endParaRPr lang="en-AU"/>
          </a:p>
        </p:txBody>
      </p:sp>
      <p:sp>
        <p:nvSpPr>
          <p:cNvPr id="16" name="Shape 14"/>
          <p:cNvSpPr/>
          <p:nvPr/>
        </p:nvSpPr>
        <p:spPr>
          <a:xfrm>
            <a:off x="8549640" y="2057400"/>
            <a:ext cx="73152" cy="3108960"/>
          </a:xfrm>
          <a:prstGeom prst="rect">
            <a:avLst/>
          </a:prstGeom>
          <a:solidFill>
            <a:srgbClr val="20735A"/>
          </a:solidFill>
          <a:ln w="12700">
            <a:solidFill>
              <a:srgbClr val="20735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8732520" y="221284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23B6D"/>
                </a:solidFill>
              </a:rPr>
              <a:t>会计师聚焦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732520" y="2642616"/>
            <a:ext cx="2578608" cy="2414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200" dirty="0">
                <a:solidFill>
                  <a:srgbClr val="1C2733"/>
                </a:solidFill>
              </a:rPr>
              <a:t>专业判断</a:t>
            </a:r>
            <a:endParaRPr lang="en-US" sz="1200" dirty="0"/>
          </a:p>
          <a:p>
            <a:r>
              <a:rPr lang="en-US" sz="1200" dirty="0">
                <a:solidFill>
                  <a:srgbClr val="1C2733"/>
                </a:solidFill>
              </a:rPr>
              <a:t>风险分析</a:t>
            </a:r>
            <a:endParaRPr lang="en-US" sz="1200" dirty="0"/>
          </a:p>
          <a:p>
            <a:r>
              <a:rPr lang="en-US" sz="1200" dirty="0">
                <a:solidFill>
                  <a:srgbClr val="1C2733"/>
                </a:solidFill>
              </a:rPr>
              <a:t>客户沟通</a:t>
            </a:r>
            <a:endParaRPr lang="en-US" sz="1200" dirty="0"/>
          </a:p>
          <a:p>
            <a:r>
              <a:rPr lang="en-US" sz="1200" dirty="0">
                <a:solidFill>
                  <a:srgbClr val="1C2733"/>
                </a:solidFill>
              </a:rPr>
              <a:t>商业建议</a:t>
            </a:r>
            <a:endParaRPr lang="en-US" sz="1200" dirty="0"/>
          </a:p>
          <a:p>
            <a:r>
              <a:rPr lang="en-US" sz="1200" dirty="0">
                <a:solidFill>
                  <a:srgbClr val="1C2733"/>
                </a:solidFill>
              </a:rPr>
              <a:t>最终审核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5650992"/>
            <a:ext cx="10744200" cy="566928"/>
          </a:xfrm>
          <a:prstGeom prst="roundRect">
            <a:avLst/>
          </a:prstGeom>
          <a:solidFill>
            <a:srgbClr val="123B6D"/>
          </a:solidFill>
          <a:ln w="12700">
            <a:solidFill>
              <a:srgbClr val="123B6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960120" y="5751576"/>
            <a:ext cx="10287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AI节省的，是专业判断之前的大量机械工作。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6539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B6A5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60350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8E1420"/>
                </a:solidFill>
              </a:rPr>
              <a:t>THE INPUT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23B6D"/>
                </a:solidFill>
              </a:rPr>
              <a:t>大家都会用AI，但答案不一定准确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53619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</a:rPr>
              <a:t>AI只能根据输入的信息回答，缺一个关键事实，结论可能完全不同。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3657600" cy="3246120"/>
          </a:xfrm>
          <a:prstGeom prst="roundRect">
            <a:avLst>
              <a:gd name="adj" fmla="val 2254"/>
            </a:avLst>
          </a:prstGeom>
          <a:solidFill>
            <a:srgbClr val="FFFDF8"/>
          </a:solidFill>
          <a:ln w="12700">
            <a:solidFill>
              <a:srgbClr val="E4D8C8"/>
            </a:solidFill>
            <a:prstDash val="solid"/>
          </a:ln>
          <a:effectLst/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685800" y="2011680"/>
            <a:ext cx="73152" cy="3246120"/>
          </a:xfrm>
          <a:prstGeom prst="rect">
            <a:avLst/>
          </a:prstGeom>
          <a:solidFill>
            <a:srgbClr val="0B82D8"/>
          </a:solidFill>
          <a:ln w="12700">
            <a:solidFill>
              <a:srgbClr val="0B82D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868680" y="216712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23B6D"/>
                </a:solidFill>
              </a:rPr>
              <a:t>客户常问AI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596896"/>
            <a:ext cx="3310128" cy="2551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200" dirty="0">
                <a:solidFill>
                  <a:srgbClr val="1C2733"/>
                </a:solidFill>
              </a:rPr>
              <a:t>这笔费用能否扣税？</a:t>
            </a:r>
            <a:endParaRPr lang="en-US" sz="1200" dirty="0"/>
          </a:p>
          <a:p>
            <a:r>
              <a:rPr lang="en-US" sz="1200" dirty="0">
                <a:solidFill>
                  <a:srgbClr val="1C2733"/>
                </a:solidFill>
              </a:rPr>
              <a:t>是否需要注册GST？</a:t>
            </a:r>
            <a:endParaRPr lang="en-US" sz="1200" dirty="0"/>
          </a:p>
          <a:p>
            <a:r>
              <a:rPr lang="en-US" sz="1200" dirty="0">
                <a:solidFill>
                  <a:srgbClr val="1C2733"/>
                </a:solidFill>
              </a:rPr>
              <a:t>用公司还是个人经营？</a:t>
            </a:r>
            <a:endParaRPr lang="en-US" sz="1200" dirty="0"/>
          </a:p>
          <a:p>
            <a:r>
              <a:rPr lang="en-US" sz="1200" dirty="0">
                <a:solidFill>
                  <a:srgbClr val="1C2733"/>
                </a:solidFill>
              </a:rPr>
              <a:t>Contractor是否要付Super？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53712" y="2011680"/>
            <a:ext cx="3246120" cy="3246120"/>
          </a:xfrm>
          <a:prstGeom prst="roundRect">
            <a:avLst>
              <a:gd name="adj" fmla="val 2254"/>
            </a:avLst>
          </a:prstGeom>
          <a:solidFill>
            <a:srgbClr val="FFFDF8"/>
          </a:solidFill>
          <a:ln w="12700">
            <a:solidFill>
              <a:srgbClr val="E4D8C8"/>
            </a:solidFill>
            <a:prstDash val="solid"/>
          </a:ln>
          <a:effectLst/>
        </p:spPr>
        <p:txBody>
          <a:bodyPr/>
          <a:lstStyle/>
          <a:p>
            <a:endParaRPr lang="en-AU"/>
          </a:p>
        </p:txBody>
      </p:sp>
      <p:sp>
        <p:nvSpPr>
          <p:cNvPr id="10" name="Shape 8"/>
          <p:cNvSpPr/>
          <p:nvPr/>
        </p:nvSpPr>
        <p:spPr>
          <a:xfrm>
            <a:off x="4553712" y="2011680"/>
            <a:ext cx="73152" cy="3246120"/>
          </a:xfrm>
          <a:prstGeom prst="rect">
            <a:avLst/>
          </a:prstGeom>
          <a:solidFill>
            <a:srgbClr val="8E1420"/>
          </a:solidFill>
          <a:ln w="12700">
            <a:solidFill>
              <a:srgbClr val="8E142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4736592" y="21671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23B6D"/>
                </a:solidFill>
              </a:rPr>
              <a:t>经常遗漏的背景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36592" y="2596896"/>
            <a:ext cx="2898648" cy="2551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200" dirty="0">
                <a:solidFill>
                  <a:srgbClr val="1C2733"/>
                </a:solidFill>
              </a:rPr>
              <a:t>所有相关实体</a:t>
            </a:r>
            <a:endParaRPr lang="en-US" sz="1200" dirty="0"/>
          </a:p>
          <a:p>
            <a:r>
              <a:rPr lang="en-US" sz="1200" dirty="0">
                <a:solidFill>
                  <a:srgbClr val="1C2733"/>
                </a:solidFill>
              </a:rPr>
              <a:t>合同与工作安排</a:t>
            </a:r>
            <a:endParaRPr lang="en-US" sz="1200" dirty="0"/>
          </a:p>
          <a:p>
            <a:r>
              <a:rPr lang="en-US" sz="1200" dirty="0">
                <a:solidFill>
                  <a:srgbClr val="1C2733"/>
                </a:solidFill>
              </a:rPr>
              <a:t>历史申报</a:t>
            </a:r>
            <a:endParaRPr lang="en-US" sz="1200" dirty="0"/>
          </a:p>
          <a:p>
            <a:r>
              <a:rPr lang="en-US" sz="1200" dirty="0">
                <a:solidFill>
                  <a:srgbClr val="1C2733"/>
                </a:solidFill>
              </a:rPr>
              <a:t>私人使用比例</a:t>
            </a:r>
            <a:endParaRPr lang="en-US" sz="1200" dirty="0"/>
          </a:p>
          <a:p>
            <a:r>
              <a:rPr lang="en-US" sz="1200" dirty="0">
                <a:solidFill>
                  <a:srgbClr val="1C2733"/>
                </a:solidFill>
              </a:rPr>
              <a:t>关联方关系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10144" y="2011680"/>
            <a:ext cx="3474720" cy="3246120"/>
          </a:xfrm>
          <a:prstGeom prst="roundRect">
            <a:avLst>
              <a:gd name="adj" fmla="val 2254"/>
            </a:avLst>
          </a:prstGeom>
          <a:solidFill>
            <a:srgbClr val="FFFDF8"/>
          </a:solidFill>
          <a:ln w="12700">
            <a:solidFill>
              <a:srgbClr val="E4D8C8"/>
            </a:solidFill>
            <a:prstDash val="solid"/>
          </a:ln>
          <a:effectLst/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8010144" y="2011680"/>
            <a:ext cx="73152" cy="3246120"/>
          </a:xfrm>
          <a:prstGeom prst="rect">
            <a:avLst/>
          </a:prstGeom>
          <a:solidFill>
            <a:srgbClr val="C99545"/>
          </a:solidFill>
          <a:ln w="12700">
            <a:solidFill>
              <a:srgbClr val="C9954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8193024" y="216712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23B6D"/>
                </a:solidFill>
              </a:rPr>
              <a:t>结果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93024" y="2596896"/>
            <a:ext cx="3127248" cy="2551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200" dirty="0">
                <a:solidFill>
                  <a:srgbClr val="1C2733"/>
                </a:solidFill>
              </a:rPr>
              <a:t>答案可能看似专业</a:t>
            </a:r>
            <a:endParaRPr lang="en-US" sz="1200" dirty="0"/>
          </a:p>
          <a:p>
            <a:r>
              <a:rPr lang="en-US" sz="1200" dirty="0">
                <a:solidFill>
                  <a:srgbClr val="1C2733"/>
                </a:solidFill>
              </a:rPr>
              <a:t>但基于不完整事实</a:t>
            </a:r>
            <a:endParaRPr lang="en-US" sz="1200" dirty="0"/>
          </a:p>
          <a:p>
            <a:r>
              <a:rPr lang="en-US" sz="1200" dirty="0">
                <a:solidFill>
                  <a:srgbClr val="1C2733"/>
                </a:solidFill>
              </a:rPr>
              <a:t>无法直接作为申报依据</a:t>
            </a:r>
            <a:endParaRPr lang="en-US" sz="1200" dirty="0"/>
          </a:p>
          <a:p>
            <a:r>
              <a:rPr lang="en-US" sz="1200" dirty="0">
                <a:solidFill>
                  <a:srgbClr val="1C2733"/>
                </a:solidFill>
              </a:rPr>
              <a:t>仍需验证与追问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5650992"/>
            <a:ext cx="10744200" cy="566928"/>
          </a:xfrm>
          <a:prstGeom prst="roundRect">
            <a:avLst/>
          </a:prstGeom>
          <a:solidFill>
            <a:srgbClr val="123B6D"/>
          </a:solidFill>
          <a:ln w="12700">
            <a:solidFill>
              <a:srgbClr val="123B6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960120" y="5751576"/>
            <a:ext cx="10287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问题不一定出在AI，而可能出在输入的信息不完整。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6539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B6A5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60350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8E1420"/>
                </a:solidFill>
              </a:rPr>
              <a:t>THE NEW ROLE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23B6D"/>
                </a:solidFill>
              </a:rPr>
              <a:t>会计师成为客户与AI之间的专业翻译者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53619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</a:rPr>
              <a:t>把模糊问题转换成完整、准确、可验证的问题。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267712" cy="2880360"/>
          </a:xfrm>
          <a:prstGeom prst="roundRect">
            <a:avLst>
              <a:gd name="adj" fmla="val 3226"/>
            </a:avLst>
          </a:prstGeom>
          <a:solidFill>
            <a:srgbClr val="FFFDF8"/>
          </a:solidFill>
          <a:ln w="12700">
            <a:solidFill>
              <a:srgbClr val="E4D8C8"/>
            </a:solidFill>
            <a:prstDash val="solid"/>
          </a:ln>
          <a:effectLst/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73152" cy="2880360"/>
          </a:xfrm>
          <a:prstGeom prst="rect">
            <a:avLst/>
          </a:prstGeom>
          <a:solidFill>
            <a:srgbClr val="8E1420"/>
          </a:solidFill>
          <a:ln w="12700">
            <a:solidFill>
              <a:srgbClr val="8E142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822960" y="2304288"/>
            <a:ext cx="1947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23B6D"/>
                </a:solidFill>
              </a:rPr>
              <a:t>客户提供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734056"/>
            <a:ext cx="1920240" cy="2185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200" dirty="0">
                <a:solidFill>
                  <a:srgbClr val="1C2733"/>
                </a:solidFill>
              </a:rPr>
              <a:t>业务事实</a:t>
            </a:r>
            <a:endParaRPr lang="en-US" sz="1200" dirty="0"/>
          </a:p>
          <a:p>
            <a:r>
              <a:rPr lang="en-US" sz="1200" dirty="0">
                <a:solidFill>
                  <a:srgbClr val="1C2733"/>
                </a:solidFill>
              </a:rPr>
              <a:t>原始文件</a:t>
            </a:r>
            <a:endParaRPr lang="en-US" sz="1200" dirty="0"/>
          </a:p>
          <a:p>
            <a:r>
              <a:rPr lang="en-US" sz="1200" dirty="0">
                <a:solidFill>
                  <a:srgbClr val="1C2733"/>
                </a:solidFill>
              </a:rPr>
              <a:t>商业目标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71800" y="3246120"/>
            <a:ext cx="438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9545"/>
                </a:solidFill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520440" y="2148840"/>
            <a:ext cx="2267712" cy="2880360"/>
          </a:xfrm>
          <a:prstGeom prst="roundRect">
            <a:avLst>
              <a:gd name="adj" fmla="val 3226"/>
            </a:avLst>
          </a:prstGeom>
          <a:solidFill>
            <a:srgbClr val="FFFDF8"/>
          </a:solidFill>
          <a:ln w="12700">
            <a:solidFill>
              <a:srgbClr val="E4D8C8"/>
            </a:solidFill>
            <a:prstDash val="solid"/>
          </a:ln>
          <a:effectLst/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3520440" y="2148840"/>
            <a:ext cx="73152" cy="2880360"/>
          </a:xfrm>
          <a:prstGeom prst="rect">
            <a:avLst/>
          </a:prstGeom>
          <a:solidFill>
            <a:srgbClr val="123B6D"/>
          </a:solidFill>
          <a:ln w="12700">
            <a:solidFill>
              <a:srgbClr val="123B6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3703320" y="2304288"/>
            <a:ext cx="1947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23B6D"/>
                </a:solidFill>
              </a:rPr>
              <a:t>会计师补充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03320" y="2734056"/>
            <a:ext cx="1920240" cy="2185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200" dirty="0">
                <a:solidFill>
                  <a:srgbClr val="1C2733"/>
                </a:solidFill>
              </a:rPr>
              <a:t>正确问题</a:t>
            </a:r>
            <a:endParaRPr lang="en-US" sz="1200" dirty="0"/>
          </a:p>
          <a:p>
            <a:r>
              <a:rPr lang="en-US" sz="1200" dirty="0">
                <a:solidFill>
                  <a:srgbClr val="1C2733"/>
                </a:solidFill>
              </a:rPr>
              <a:t>完整背景</a:t>
            </a:r>
            <a:endParaRPr lang="en-US" sz="1200" dirty="0"/>
          </a:p>
          <a:p>
            <a:r>
              <a:rPr lang="en-US" sz="1200" dirty="0">
                <a:solidFill>
                  <a:srgbClr val="1C2733"/>
                </a:solidFill>
              </a:rPr>
              <a:t>风险边界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52160" y="3246120"/>
            <a:ext cx="438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9545"/>
                </a:solidFill>
              </a:rPr>
              <a:t>→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6400800" y="2148840"/>
            <a:ext cx="2267712" cy="2880360"/>
          </a:xfrm>
          <a:prstGeom prst="roundRect">
            <a:avLst>
              <a:gd name="adj" fmla="val 3226"/>
            </a:avLst>
          </a:prstGeom>
          <a:solidFill>
            <a:srgbClr val="FFFDF8"/>
          </a:solidFill>
          <a:ln w="12700">
            <a:solidFill>
              <a:srgbClr val="E4D8C8"/>
            </a:solidFill>
            <a:prstDash val="solid"/>
          </a:ln>
          <a:effectLst/>
        </p:spPr>
        <p:txBody>
          <a:bodyPr/>
          <a:lstStyle/>
          <a:p>
            <a:endParaRPr lang="en-AU"/>
          </a:p>
        </p:txBody>
      </p:sp>
      <p:sp>
        <p:nvSpPr>
          <p:cNvPr id="16" name="Shape 14"/>
          <p:cNvSpPr/>
          <p:nvPr/>
        </p:nvSpPr>
        <p:spPr>
          <a:xfrm>
            <a:off x="6400800" y="2148840"/>
            <a:ext cx="73152" cy="2880360"/>
          </a:xfrm>
          <a:prstGeom prst="rect">
            <a:avLst/>
          </a:prstGeom>
          <a:solidFill>
            <a:srgbClr val="0B82D8"/>
          </a:solidFill>
          <a:ln w="12700">
            <a:solidFill>
              <a:srgbClr val="0B82D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6583680" y="2304288"/>
            <a:ext cx="1947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23B6D"/>
                </a:solidFill>
              </a:rPr>
              <a:t>AI协助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83680" y="2734056"/>
            <a:ext cx="1920240" cy="2185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200" dirty="0">
                <a:solidFill>
                  <a:srgbClr val="1C2733"/>
                </a:solidFill>
              </a:rPr>
              <a:t>整理数据</a:t>
            </a:r>
            <a:endParaRPr lang="en-US" sz="1200" dirty="0"/>
          </a:p>
          <a:p>
            <a:r>
              <a:rPr lang="en-US" sz="1200" dirty="0">
                <a:solidFill>
                  <a:srgbClr val="1C2733"/>
                </a:solidFill>
              </a:rPr>
              <a:t>比较资料</a:t>
            </a:r>
            <a:endParaRPr lang="en-US" sz="1200" dirty="0"/>
          </a:p>
          <a:p>
            <a:r>
              <a:rPr lang="en-US" sz="1200" dirty="0">
                <a:solidFill>
                  <a:srgbClr val="1C2733"/>
                </a:solidFill>
              </a:rPr>
              <a:t>列出异常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732520" y="3246120"/>
            <a:ext cx="438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9545"/>
                </a:solidFill>
              </a:rPr>
              <a:t>→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9281160" y="2148840"/>
            <a:ext cx="2267712" cy="2880360"/>
          </a:xfrm>
          <a:prstGeom prst="roundRect">
            <a:avLst>
              <a:gd name="adj" fmla="val 3226"/>
            </a:avLst>
          </a:prstGeom>
          <a:solidFill>
            <a:srgbClr val="FFFDF8"/>
          </a:solidFill>
          <a:ln w="12700">
            <a:solidFill>
              <a:srgbClr val="E4D8C8"/>
            </a:solidFill>
            <a:prstDash val="solid"/>
          </a:ln>
          <a:effectLst/>
        </p:spPr>
        <p:txBody>
          <a:bodyPr/>
          <a:lstStyle/>
          <a:p>
            <a:endParaRPr lang="en-AU"/>
          </a:p>
        </p:txBody>
      </p:sp>
      <p:sp>
        <p:nvSpPr>
          <p:cNvPr id="21" name="Shape 19"/>
          <p:cNvSpPr/>
          <p:nvPr/>
        </p:nvSpPr>
        <p:spPr>
          <a:xfrm>
            <a:off x="9281160" y="2148840"/>
            <a:ext cx="73152" cy="2880360"/>
          </a:xfrm>
          <a:prstGeom prst="rect">
            <a:avLst/>
          </a:prstGeom>
          <a:solidFill>
            <a:srgbClr val="20735A"/>
          </a:solidFill>
          <a:ln w="12700">
            <a:solidFill>
              <a:srgbClr val="20735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9464040" y="2304288"/>
            <a:ext cx="1947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23B6D"/>
                </a:solidFill>
              </a:rPr>
              <a:t>会计师负责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464040" y="2734056"/>
            <a:ext cx="1920240" cy="2185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200" dirty="0">
                <a:solidFill>
                  <a:srgbClr val="1C2733"/>
                </a:solidFill>
              </a:rPr>
              <a:t>验证</a:t>
            </a:r>
            <a:endParaRPr lang="en-US" sz="1200" dirty="0"/>
          </a:p>
          <a:p>
            <a:r>
              <a:rPr lang="en-US" sz="1200" dirty="0">
                <a:solidFill>
                  <a:srgbClr val="1C2733"/>
                </a:solidFill>
              </a:rPr>
              <a:t>判断</a:t>
            </a:r>
            <a:endParaRPr lang="en-US" sz="1200" dirty="0"/>
          </a:p>
          <a:p>
            <a:r>
              <a:rPr lang="en-US" sz="1200" dirty="0">
                <a:solidFill>
                  <a:srgbClr val="1C2733"/>
                </a:solidFill>
              </a:rPr>
              <a:t>沟通与建议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1520" y="5650992"/>
            <a:ext cx="10744200" cy="566928"/>
          </a:xfrm>
          <a:prstGeom prst="roundRect">
            <a:avLst/>
          </a:prstGeom>
          <a:solidFill>
            <a:srgbClr val="123B6D"/>
          </a:solidFill>
          <a:ln w="12700">
            <a:solidFill>
              <a:srgbClr val="123B6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Text 23"/>
          <p:cNvSpPr/>
          <p:nvPr/>
        </p:nvSpPr>
        <p:spPr>
          <a:xfrm>
            <a:off x="960120" y="5751576"/>
            <a:ext cx="10287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会计师不仅会使用AI，还帮助客户正确地使用AI。</a:t>
            </a:r>
            <a:endParaRPr lang="en-US" sz="16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6539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B6A5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60350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8E1420"/>
                </a:solidFill>
              </a:rPr>
              <a:t>THE METHOD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23B6D"/>
                </a:solidFill>
              </a:rPr>
              <a:t>AI最适合做三类工作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53619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</a:rPr>
              <a:t>整理、核对、提醒，把问题更早交给专业人员。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2057400"/>
            <a:ext cx="3337560" cy="3063240"/>
          </a:xfrm>
          <a:prstGeom prst="roundRect">
            <a:avLst>
              <a:gd name="adj" fmla="val 2388"/>
            </a:avLst>
          </a:prstGeom>
          <a:solidFill>
            <a:srgbClr val="FFFDF8"/>
          </a:solidFill>
          <a:ln w="12700">
            <a:solidFill>
              <a:srgbClr val="E4D8C8"/>
            </a:solidFill>
            <a:prstDash val="solid"/>
          </a:ln>
          <a:effectLst/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777240" y="2057400"/>
            <a:ext cx="73152" cy="3063240"/>
          </a:xfrm>
          <a:prstGeom prst="rect">
            <a:avLst/>
          </a:prstGeom>
          <a:solidFill>
            <a:srgbClr val="0B82D8"/>
          </a:solidFill>
          <a:ln w="12700">
            <a:solidFill>
              <a:srgbClr val="0B82D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960120" y="221284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23B6D"/>
                </a:solidFill>
              </a:rPr>
              <a:t>整理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2642616"/>
            <a:ext cx="2990088" cy="2368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200" dirty="0">
                <a:solidFill>
                  <a:srgbClr val="1C2733"/>
                </a:solidFill>
              </a:rPr>
              <a:t>文件清单</a:t>
            </a:r>
            <a:endParaRPr lang="en-US" sz="1200" dirty="0"/>
          </a:p>
          <a:p>
            <a:r>
              <a:rPr lang="en-US" sz="1200" dirty="0">
                <a:solidFill>
                  <a:srgbClr val="1C2733"/>
                </a:solidFill>
              </a:rPr>
              <a:t>金额与日期</a:t>
            </a:r>
            <a:endParaRPr lang="en-US" sz="1200" dirty="0"/>
          </a:p>
          <a:p>
            <a:r>
              <a:rPr lang="en-US" sz="1200" dirty="0">
                <a:solidFill>
                  <a:srgbClr val="1C2733"/>
                </a:solidFill>
              </a:rPr>
              <a:t>银行交易</a:t>
            </a:r>
            <a:endParaRPr lang="en-US" sz="1200" dirty="0"/>
          </a:p>
          <a:p>
            <a:r>
              <a:rPr lang="en-US" sz="1200" dirty="0">
                <a:solidFill>
                  <a:srgbClr val="1C2733"/>
                </a:solidFill>
              </a:rPr>
              <a:t>缺失资料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34840" y="2057400"/>
            <a:ext cx="3337560" cy="3063240"/>
          </a:xfrm>
          <a:prstGeom prst="roundRect">
            <a:avLst>
              <a:gd name="adj" fmla="val 2388"/>
            </a:avLst>
          </a:prstGeom>
          <a:solidFill>
            <a:srgbClr val="FFFDF8"/>
          </a:solidFill>
          <a:ln w="12700">
            <a:solidFill>
              <a:srgbClr val="E4D8C8"/>
            </a:solidFill>
            <a:prstDash val="solid"/>
          </a:ln>
          <a:effectLst/>
        </p:spPr>
        <p:txBody>
          <a:bodyPr/>
          <a:lstStyle/>
          <a:p>
            <a:endParaRPr lang="en-AU"/>
          </a:p>
        </p:txBody>
      </p:sp>
      <p:sp>
        <p:nvSpPr>
          <p:cNvPr id="10" name="Shape 8"/>
          <p:cNvSpPr/>
          <p:nvPr/>
        </p:nvSpPr>
        <p:spPr>
          <a:xfrm>
            <a:off x="4434840" y="2057400"/>
            <a:ext cx="73152" cy="3063240"/>
          </a:xfrm>
          <a:prstGeom prst="rect">
            <a:avLst/>
          </a:prstGeom>
          <a:solidFill>
            <a:srgbClr val="8E1420"/>
          </a:solidFill>
          <a:ln w="12700">
            <a:solidFill>
              <a:srgbClr val="8E142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4617720" y="221284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23B6D"/>
                </a:solidFill>
              </a:rPr>
              <a:t>核对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17720" y="2642616"/>
            <a:ext cx="2990088" cy="2368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200" dirty="0">
                <a:solidFill>
                  <a:srgbClr val="1C2733"/>
                </a:solidFill>
              </a:rPr>
              <a:t>银行对总账</a:t>
            </a:r>
            <a:endParaRPr lang="en-US" sz="1200" dirty="0"/>
          </a:p>
          <a:p>
            <a:r>
              <a:rPr lang="en-US" sz="1200" dirty="0">
                <a:solidFill>
                  <a:srgbClr val="1C2733"/>
                </a:solidFill>
              </a:rPr>
              <a:t>BAS对GST</a:t>
            </a:r>
            <a:endParaRPr lang="en-US" sz="1200" dirty="0"/>
          </a:p>
          <a:p>
            <a:r>
              <a:rPr lang="en-US" sz="1200" dirty="0">
                <a:solidFill>
                  <a:srgbClr val="1C2733"/>
                </a:solidFill>
              </a:rPr>
              <a:t>FS对Tax Return</a:t>
            </a:r>
            <a:endParaRPr lang="en-US" sz="1200" dirty="0"/>
          </a:p>
          <a:p>
            <a:r>
              <a:rPr lang="en-US" sz="1200" dirty="0">
                <a:solidFill>
                  <a:srgbClr val="1C2733"/>
                </a:solidFill>
              </a:rPr>
              <a:t>本年对往年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92440" y="2057400"/>
            <a:ext cx="3337560" cy="3063240"/>
          </a:xfrm>
          <a:prstGeom prst="roundRect">
            <a:avLst>
              <a:gd name="adj" fmla="val 2388"/>
            </a:avLst>
          </a:prstGeom>
          <a:solidFill>
            <a:srgbClr val="FFFDF8"/>
          </a:solidFill>
          <a:ln w="12700">
            <a:solidFill>
              <a:srgbClr val="E4D8C8"/>
            </a:solidFill>
            <a:prstDash val="solid"/>
          </a:ln>
          <a:effectLst/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8092440" y="2057400"/>
            <a:ext cx="73152" cy="3063240"/>
          </a:xfrm>
          <a:prstGeom prst="rect">
            <a:avLst/>
          </a:prstGeom>
          <a:solidFill>
            <a:srgbClr val="C99545"/>
          </a:solidFill>
          <a:ln w="12700">
            <a:solidFill>
              <a:srgbClr val="C9954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8275320" y="221284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23B6D"/>
                </a:solidFill>
              </a:rPr>
              <a:t>提醒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75320" y="2642616"/>
            <a:ext cx="2990088" cy="2368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200" dirty="0">
                <a:solidFill>
                  <a:srgbClr val="1C2733"/>
                </a:solidFill>
              </a:rPr>
              <a:t>异常交易</a:t>
            </a:r>
            <a:endParaRPr lang="en-US" sz="1200" dirty="0"/>
          </a:p>
          <a:p>
            <a:r>
              <a:rPr lang="en-US" sz="1200" dirty="0">
                <a:solidFill>
                  <a:srgbClr val="1C2733"/>
                </a:solidFill>
              </a:rPr>
              <a:t>缺失证据</a:t>
            </a:r>
            <a:endParaRPr lang="en-US" sz="1200" dirty="0"/>
          </a:p>
          <a:p>
            <a:r>
              <a:rPr lang="en-US" sz="1200" dirty="0">
                <a:solidFill>
                  <a:srgbClr val="1C2733"/>
                </a:solidFill>
              </a:rPr>
              <a:t>重大变动</a:t>
            </a:r>
            <a:endParaRPr lang="en-US" sz="1200" dirty="0"/>
          </a:p>
          <a:p>
            <a:r>
              <a:rPr lang="en-US" sz="1200" dirty="0">
                <a:solidFill>
                  <a:srgbClr val="1C2733"/>
                </a:solidFill>
              </a:rPr>
              <a:t>合规风险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5650992"/>
            <a:ext cx="10744200" cy="566928"/>
          </a:xfrm>
          <a:prstGeom prst="roundRect">
            <a:avLst/>
          </a:prstGeom>
          <a:solidFill>
            <a:srgbClr val="123B6D"/>
          </a:solidFill>
          <a:ln w="12700">
            <a:solidFill>
              <a:srgbClr val="123B6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960120" y="5751576"/>
            <a:ext cx="10287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先验证，再分析。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6539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B6A5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60350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8E1420"/>
                </a:solidFill>
              </a:rPr>
              <a:t>CASE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23B6D"/>
                </a:solidFill>
              </a:rPr>
              <a:t>银行收到的钱，不等于Sales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53619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</a:rPr>
              <a:t>一笔入账的性质，必须回到来源、证据与期间。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2084832"/>
            <a:ext cx="1673352" cy="841248"/>
          </a:xfrm>
          <a:prstGeom prst="roundRect">
            <a:avLst/>
          </a:prstGeom>
          <a:solidFill>
            <a:srgbClr val="20735A"/>
          </a:solidFill>
          <a:ln w="12700">
            <a:solidFill>
              <a:srgbClr val="FFFFFF"/>
            </a:solidFill>
            <a:prstDash val="solid"/>
          </a:ln>
          <a:effectLst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850392" y="2212848"/>
            <a:ext cx="1527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客户付款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$40,000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97480" y="2084832"/>
            <a:ext cx="1673352" cy="841248"/>
          </a:xfrm>
          <a:prstGeom prst="roundRect">
            <a:avLst/>
          </a:prstGeom>
          <a:solidFill>
            <a:srgbClr val="C99545"/>
          </a:solidFill>
          <a:ln w="12700">
            <a:solidFill>
              <a:srgbClr val="FFFFFF"/>
            </a:solidFill>
            <a:prstDash val="solid"/>
          </a:ln>
          <a:effectLst/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2770632" y="2212848"/>
            <a:ext cx="1527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股东转入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$15,000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17720" y="2084832"/>
            <a:ext cx="1673352" cy="841248"/>
          </a:xfrm>
          <a:prstGeom prst="roundRect">
            <a:avLst/>
          </a:prstGeom>
          <a:solidFill>
            <a:srgbClr val="0B82D8"/>
          </a:solidFill>
          <a:ln w="12700">
            <a:solidFill>
              <a:srgbClr val="FFFFFF"/>
            </a:solidFill>
            <a:prstDash val="solid"/>
          </a:ln>
          <a:effectLst/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4690872" y="2212848"/>
            <a:ext cx="1527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银行利息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$800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3209544"/>
            <a:ext cx="1673352" cy="841248"/>
          </a:xfrm>
          <a:prstGeom prst="roundRect">
            <a:avLst/>
          </a:prstGeom>
          <a:solidFill>
            <a:srgbClr val="123B6D"/>
          </a:solidFill>
          <a:ln w="12700">
            <a:solidFill>
              <a:srgbClr val="FFFFFF"/>
            </a:solidFill>
            <a:prstDash val="solid"/>
          </a:ln>
          <a:effectLst/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850392" y="3337560"/>
            <a:ext cx="1527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账户间转账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$20,000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697480" y="3209544"/>
            <a:ext cx="1673352" cy="841248"/>
          </a:xfrm>
          <a:prstGeom prst="roundRect">
            <a:avLst/>
          </a:prstGeom>
          <a:solidFill>
            <a:srgbClr val="8E1420"/>
          </a:solidFill>
          <a:ln w="12700">
            <a:solidFill>
              <a:srgbClr val="FFFFFF"/>
            </a:solidFill>
            <a:prstDash val="solid"/>
          </a:ln>
          <a:effectLst/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2770632" y="3337560"/>
            <a:ext cx="1527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退款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$2,000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17720" y="3209544"/>
            <a:ext cx="1673352" cy="841248"/>
          </a:xfrm>
          <a:prstGeom prst="roundRect">
            <a:avLst/>
          </a:prstGeom>
          <a:solidFill>
            <a:srgbClr val="7B4BB7"/>
          </a:solidFill>
          <a:ln w="12700">
            <a:solidFill>
              <a:srgbClr val="FFFFFF"/>
            </a:solidFill>
            <a:prstDash val="solid"/>
          </a:ln>
          <a:effectLst/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4690872" y="3337560"/>
            <a:ext cx="1527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工资收入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$30,000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55664" y="2761488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C99545"/>
                </a:solidFill>
              </a:rPr>
              <a:t>→</a:t>
            </a:r>
            <a:endParaRPr lang="en-US" sz="3800" dirty="0"/>
          </a:p>
        </p:txBody>
      </p:sp>
      <p:sp>
        <p:nvSpPr>
          <p:cNvPr id="18" name="Shape 16"/>
          <p:cNvSpPr/>
          <p:nvPr/>
        </p:nvSpPr>
        <p:spPr>
          <a:xfrm>
            <a:off x="7223760" y="2029968"/>
            <a:ext cx="4297680" cy="3108960"/>
          </a:xfrm>
          <a:prstGeom prst="roundRect">
            <a:avLst>
              <a:gd name="adj" fmla="val 2353"/>
            </a:avLst>
          </a:prstGeom>
          <a:solidFill>
            <a:srgbClr val="FFFDF8"/>
          </a:solidFill>
          <a:ln w="12700">
            <a:solidFill>
              <a:srgbClr val="E4D8C8"/>
            </a:solidFill>
            <a:prstDash val="solid"/>
          </a:ln>
          <a:effectLst/>
        </p:spPr>
        <p:txBody>
          <a:bodyPr/>
          <a:lstStyle/>
          <a:p>
            <a:endParaRPr lang="en-AU"/>
          </a:p>
        </p:txBody>
      </p:sp>
      <p:sp>
        <p:nvSpPr>
          <p:cNvPr id="19" name="Shape 17"/>
          <p:cNvSpPr/>
          <p:nvPr/>
        </p:nvSpPr>
        <p:spPr>
          <a:xfrm>
            <a:off x="7223760" y="2029968"/>
            <a:ext cx="73152" cy="3108960"/>
          </a:xfrm>
          <a:prstGeom prst="rect">
            <a:avLst/>
          </a:prstGeom>
          <a:solidFill>
            <a:srgbClr val="8E1420"/>
          </a:solidFill>
          <a:ln w="12700">
            <a:solidFill>
              <a:srgbClr val="8E142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7406640" y="2185416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23B6D"/>
                </a:solidFill>
              </a:rPr>
              <a:t>真正的Sales怎么算？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406640" y="2615184"/>
            <a:ext cx="3950208" cy="2414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200" dirty="0">
                <a:solidFill>
                  <a:srgbClr val="1C2733"/>
                </a:solidFill>
              </a:rPr>
              <a:t>识别交易来源</a:t>
            </a:r>
            <a:endParaRPr lang="en-US" sz="1200" dirty="0"/>
          </a:p>
          <a:p>
            <a:r>
              <a:rPr lang="en-US" sz="1200" dirty="0">
                <a:solidFill>
                  <a:srgbClr val="1C2733"/>
                </a:solidFill>
              </a:rPr>
              <a:t>对照invoice与客户名单</a:t>
            </a:r>
            <a:endParaRPr lang="en-US" sz="1200" dirty="0"/>
          </a:p>
          <a:p>
            <a:r>
              <a:rPr lang="en-US" sz="1200" dirty="0">
                <a:solidFill>
                  <a:srgbClr val="1C2733"/>
                </a:solidFill>
              </a:rPr>
              <a:t>排除内部转账和私人资金</a:t>
            </a:r>
            <a:endParaRPr lang="en-US" sz="1200" dirty="0"/>
          </a:p>
          <a:p>
            <a:r>
              <a:rPr lang="en-US" sz="1200" dirty="0">
                <a:solidFill>
                  <a:srgbClr val="1C2733"/>
                </a:solidFill>
              </a:rPr>
              <a:t>确认收入所属期间</a:t>
            </a:r>
            <a:endParaRPr lang="en-US" sz="1200" dirty="0"/>
          </a:p>
          <a:p>
            <a:r>
              <a:rPr lang="en-US" sz="1200" dirty="0">
                <a:solidFill>
                  <a:srgbClr val="1C2733"/>
                </a:solidFill>
              </a:rPr>
              <a:t>保留核对轨迹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" y="5650992"/>
            <a:ext cx="10744200" cy="566928"/>
          </a:xfrm>
          <a:prstGeom prst="roundRect">
            <a:avLst/>
          </a:prstGeom>
          <a:solidFill>
            <a:srgbClr val="123B6D"/>
          </a:solidFill>
          <a:ln w="12700">
            <a:solidFill>
              <a:srgbClr val="123B6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" name="Text 21"/>
          <p:cNvSpPr/>
          <p:nvPr/>
        </p:nvSpPr>
        <p:spPr>
          <a:xfrm>
            <a:off x="960120" y="5751576"/>
            <a:ext cx="10287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AI的价值不是更快相加，而是帮助建立清楚的证据链。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6539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B6A5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60350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8E1420"/>
                </a:solidFill>
              </a:rPr>
              <a:t>CASE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23B6D"/>
                </a:solidFill>
              </a:rPr>
              <a:t>有付款、有收据，也不等于可以全部扣税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53619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</a:rPr>
              <a:t>费用要通过三道门：发生、业务目的、税务处理。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2103120"/>
            <a:ext cx="3154680" cy="2377440"/>
          </a:xfrm>
          <a:prstGeom prst="roundRect">
            <a:avLst/>
          </a:prstGeom>
          <a:solidFill>
            <a:srgbClr val="FFFDF8"/>
          </a:solidFill>
          <a:ln w="25400">
            <a:solidFill>
              <a:srgbClr val="0B82D8"/>
            </a:solidFill>
            <a:prstDash val="solid"/>
          </a:ln>
          <a:effectLst/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1911096" y="1810512"/>
            <a:ext cx="868680" cy="868680"/>
          </a:xfrm>
          <a:prstGeom prst="ellipse">
            <a:avLst/>
          </a:prstGeom>
          <a:solidFill>
            <a:srgbClr val="0B82D8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2130552" y="1993392"/>
            <a:ext cx="429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2843784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23B6D"/>
                </a:solidFill>
              </a:rPr>
              <a:t>付款是否发生？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97280" y="345643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C2733"/>
                </a:solidFill>
              </a:rPr>
              <a:t>银行 / receipt / invoice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80560" y="2103120"/>
            <a:ext cx="3154680" cy="2377440"/>
          </a:xfrm>
          <a:prstGeom prst="roundRect">
            <a:avLst/>
          </a:prstGeom>
          <a:solidFill>
            <a:srgbClr val="FFFDF8"/>
          </a:solidFill>
          <a:ln w="25400">
            <a:solidFill>
              <a:srgbClr val="8E1420"/>
            </a:solidFill>
            <a:prstDash val="solid"/>
          </a:ln>
          <a:effectLst/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5614416" y="1810512"/>
            <a:ext cx="868680" cy="868680"/>
          </a:xfrm>
          <a:prstGeom prst="ellipse">
            <a:avLst/>
          </a:prstGeom>
          <a:solidFill>
            <a:srgbClr val="8E1420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5833872" y="1993392"/>
            <a:ext cx="429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800600" y="2843784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23B6D"/>
                </a:solidFill>
              </a:rPr>
              <a:t>是否用于产生收入？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800600" y="345643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C2733"/>
                </a:solidFill>
              </a:rPr>
              <a:t>业务目的 / 私人比例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83880" y="2103120"/>
            <a:ext cx="3154680" cy="2377440"/>
          </a:xfrm>
          <a:prstGeom prst="roundRect">
            <a:avLst/>
          </a:prstGeom>
          <a:solidFill>
            <a:srgbClr val="FFFDF8"/>
          </a:solidFill>
          <a:ln w="25400">
            <a:solidFill>
              <a:srgbClr val="C99545"/>
            </a:solidFill>
            <a:prstDash val="solid"/>
          </a:ln>
          <a:effectLst/>
        </p:spPr>
        <p:txBody>
          <a:bodyPr/>
          <a:lstStyle/>
          <a:p>
            <a:endParaRPr lang="en-AU"/>
          </a:p>
        </p:txBody>
      </p:sp>
      <p:sp>
        <p:nvSpPr>
          <p:cNvPr id="16" name="Shape 14"/>
          <p:cNvSpPr/>
          <p:nvPr/>
        </p:nvSpPr>
        <p:spPr>
          <a:xfrm>
            <a:off x="9317736" y="1810512"/>
            <a:ext cx="868680" cy="868680"/>
          </a:xfrm>
          <a:prstGeom prst="ellipse">
            <a:avLst/>
          </a:prstGeom>
          <a:solidFill>
            <a:srgbClr val="C99545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9537192" y="1993392"/>
            <a:ext cx="429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503920" y="2843784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23B6D"/>
                </a:solidFill>
              </a:rPr>
              <a:t>税务处理是否正确？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503920" y="345643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C2733"/>
                </a:solidFill>
              </a:rPr>
              <a:t>扣除 / 折旧 / GST / withholding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0480" y="48920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b="1" dirty="0">
              <a:solidFill>
                <a:srgbClr val="8E1420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31520" y="5650992"/>
            <a:ext cx="10744200" cy="566928"/>
          </a:xfrm>
          <a:prstGeom prst="roundRect">
            <a:avLst/>
          </a:prstGeom>
          <a:solidFill>
            <a:srgbClr val="123B6D"/>
          </a:solidFill>
          <a:ln w="12700">
            <a:solidFill>
              <a:srgbClr val="123B6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960120" y="5751576"/>
            <a:ext cx="10287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AI可以计算95%，但不能自己创造95%的事实依据。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6539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B6A5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60350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8E1420"/>
                </a:solidFill>
              </a:rPr>
              <a:t>CASE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23B6D"/>
                </a:solidFill>
              </a:rPr>
              <a:t>“Contractor”只是银行描述，不是税务结论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53619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</a:rPr>
              <a:t>一笔付款，至少检查六件事。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983480" y="2344928"/>
            <a:ext cx="2240280" cy="2240280"/>
          </a:xfrm>
          <a:prstGeom prst="ellipse">
            <a:avLst/>
          </a:prstGeom>
          <a:solidFill>
            <a:srgbClr val="123B6D"/>
          </a:solidFill>
          <a:ln w="38100">
            <a:solidFill>
              <a:srgbClr val="FFFFFF"/>
            </a:solidFill>
            <a:prstDash val="solid"/>
          </a:ln>
          <a:effectLst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5321808" y="3054096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</a:rPr>
              <a:t>Contractor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</a:rPr>
              <a:t>Payment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079492" y="1517396"/>
            <a:ext cx="2048256" cy="684784"/>
          </a:xfrm>
          <a:prstGeom prst="roundRect">
            <a:avLst/>
          </a:prstGeom>
          <a:solidFill>
            <a:srgbClr val="F2E6E7"/>
          </a:solidFill>
          <a:ln w="19050">
            <a:solidFill>
              <a:srgbClr val="8E1420"/>
            </a:solidFill>
            <a:prstDash val="solid"/>
          </a:ln>
          <a:effectLst/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5161342" y="1518487"/>
            <a:ext cx="1828800" cy="690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2733"/>
                </a:solidFill>
              </a:rPr>
              <a:t>真实付款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088688" y="2139696"/>
            <a:ext cx="2048256" cy="694944"/>
          </a:xfrm>
          <a:prstGeom prst="roundRect">
            <a:avLst/>
          </a:prstGeom>
          <a:solidFill>
            <a:srgbClr val="FFFDF8"/>
          </a:solidFill>
          <a:ln w="19050">
            <a:solidFill>
              <a:srgbClr val="0B82D8"/>
            </a:solidFill>
            <a:prstDash val="solid"/>
          </a:ln>
          <a:effectLst/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8198416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2733"/>
                </a:solidFill>
              </a:rPr>
              <a:t>Invoice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88688" y="4197096"/>
            <a:ext cx="2048256" cy="694944"/>
          </a:xfrm>
          <a:prstGeom prst="roundRect">
            <a:avLst/>
          </a:prstGeom>
          <a:solidFill>
            <a:srgbClr val="F2E6E7"/>
          </a:solidFill>
          <a:ln w="19050">
            <a:solidFill>
              <a:srgbClr val="8E1420"/>
            </a:solidFill>
            <a:prstDash val="solid"/>
          </a:ln>
          <a:effectLst/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8198416" y="4434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2733"/>
                </a:solidFill>
              </a:rPr>
              <a:t>ABN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160772" y="4758436"/>
            <a:ext cx="2048256" cy="694944"/>
          </a:xfrm>
          <a:prstGeom prst="roundRect">
            <a:avLst/>
          </a:prstGeom>
          <a:solidFill>
            <a:srgbClr val="FFFDF8"/>
          </a:solidFill>
          <a:ln w="19050">
            <a:solidFill>
              <a:srgbClr val="0B82D8"/>
            </a:solidFill>
            <a:prstDash val="solid"/>
          </a:ln>
          <a:effectLst/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5158740" y="4894580"/>
            <a:ext cx="18288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2733"/>
                </a:solidFill>
              </a:rPr>
              <a:t>服务内容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070296" y="4197096"/>
            <a:ext cx="2048256" cy="694944"/>
          </a:xfrm>
          <a:prstGeom prst="roundRect">
            <a:avLst/>
          </a:prstGeom>
          <a:solidFill>
            <a:srgbClr val="F2E6E7"/>
          </a:solidFill>
          <a:ln w="19050">
            <a:solidFill>
              <a:srgbClr val="8E1420"/>
            </a:solidFill>
            <a:prstDash val="solid"/>
          </a:ln>
          <a:effectLst/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2180024" y="4434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2733"/>
                </a:solidFill>
              </a:rPr>
              <a:t>客户项目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070296" y="2139696"/>
            <a:ext cx="2048256" cy="694944"/>
          </a:xfrm>
          <a:prstGeom prst="roundRect">
            <a:avLst/>
          </a:prstGeom>
          <a:solidFill>
            <a:srgbClr val="FFFDF8"/>
          </a:solidFill>
          <a:ln w="19050">
            <a:solidFill>
              <a:srgbClr val="0B82D8"/>
            </a:solidFill>
            <a:prstDash val="solid"/>
          </a:ln>
          <a:effectLst/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2180024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2733"/>
                </a:solidFill>
              </a:rPr>
              <a:t>Withholding / Super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5650992"/>
            <a:ext cx="10744200" cy="566928"/>
          </a:xfrm>
          <a:prstGeom prst="roundRect">
            <a:avLst/>
          </a:prstGeom>
          <a:solidFill>
            <a:srgbClr val="123B6D"/>
          </a:solidFill>
          <a:ln w="12700">
            <a:solidFill>
              <a:srgbClr val="123B6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960120" y="5751576"/>
            <a:ext cx="10287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AI集中列出风险，专业人士根据完整事实作出结论。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6539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B6A5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60350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8E1420"/>
                </a:solidFill>
              </a:rPr>
              <a:t>CASE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23B6D"/>
                </a:solidFill>
              </a:rPr>
              <a:t>单独看都合理，放在一起却不平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53619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</a:rPr>
              <a:t>真正的审核价值，来自跨文件、跨年度、跨实体的比较。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386832" y="1437640"/>
            <a:ext cx="1426464" cy="54864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123B6D"/>
            </a:solidFill>
            <a:prstDash val="solid"/>
          </a:ln>
          <a:effectLst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5468112" y="1435608"/>
            <a:ext cx="1243584" cy="544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23B6D"/>
                </a:solidFill>
              </a:rPr>
              <a:t>财务报表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318604" y="1884061"/>
            <a:ext cx="1426464" cy="54864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123B6D"/>
            </a:solidFill>
            <a:prstDash val="solid"/>
          </a:ln>
          <a:effectLst/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8410044" y="2038207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23B6D"/>
                </a:solidFill>
              </a:rPr>
              <a:t>Tax Return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537192" y="3291840"/>
            <a:ext cx="1426464" cy="548640"/>
          </a:xfrm>
          <a:prstGeom prst="roundRect">
            <a:avLst/>
          </a:prstGeom>
          <a:solidFill>
            <a:srgbClr val="FFFDF8"/>
          </a:solidFill>
          <a:ln w="31750">
            <a:solidFill>
              <a:srgbClr val="8E1420"/>
            </a:solidFill>
            <a:prstDash val="solid"/>
          </a:ln>
          <a:effectLst/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9628632" y="3493008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E1420"/>
                </a:solidFill>
              </a:rPr>
              <a:t>General Ledger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318604" y="4360561"/>
            <a:ext cx="1426464" cy="430784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123B6D"/>
            </a:solidFill>
            <a:prstDash val="solid"/>
          </a:ln>
          <a:effectLst/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8410044" y="4358529"/>
            <a:ext cx="1243584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23B6D"/>
                </a:solidFill>
              </a:rPr>
              <a:t>BAS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86832" y="5186680"/>
            <a:ext cx="1426464" cy="47752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123B6D"/>
            </a:solidFill>
            <a:prstDash val="solid"/>
          </a:ln>
          <a:effectLst/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5468112" y="5194808"/>
            <a:ext cx="1243584" cy="473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23B6D"/>
                </a:solidFill>
              </a:rPr>
              <a:t>银行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434740" y="4360561"/>
            <a:ext cx="1426464" cy="4368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123B6D"/>
            </a:solidFill>
            <a:prstDash val="solid"/>
          </a:ln>
          <a:effectLst/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2526180" y="4358529"/>
            <a:ext cx="1243584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23B6D"/>
                </a:solidFill>
              </a:rPr>
              <a:t>工资报告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216152" y="3291840"/>
            <a:ext cx="1426464" cy="54864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123B6D"/>
            </a:solidFill>
            <a:prstDash val="solid"/>
          </a:ln>
          <a:effectLst/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1307592" y="3493008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23B6D"/>
                </a:solidFill>
              </a:rPr>
              <a:t>ATO账户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434740" y="1947671"/>
            <a:ext cx="1426464" cy="595265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123B6D"/>
            </a:solidFill>
            <a:prstDash val="solid"/>
          </a:ln>
          <a:effectLst/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2526180" y="2038207"/>
            <a:ext cx="1243584" cy="394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23B6D"/>
                </a:solidFill>
              </a:rPr>
              <a:t>Workpaper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919472" y="2115312"/>
            <a:ext cx="2340864" cy="2351024"/>
          </a:xfrm>
          <a:prstGeom prst="ellipse">
            <a:avLst/>
          </a:prstGeom>
          <a:solidFill>
            <a:srgbClr val="123B6D"/>
          </a:solidFill>
          <a:ln w="38100">
            <a:solidFill>
              <a:srgbClr val="C9954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5285232" y="3127248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CROSS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CHECK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386840" y="4797552"/>
            <a:ext cx="9565640" cy="38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E1420"/>
                </a:solidFill>
              </a:rPr>
              <a:t>GST payable ≠ BAS   |   Opening ≠ Prior closing   |   Intercompany balances ≠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21360" y="5904992"/>
            <a:ext cx="10744200" cy="566928"/>
          </a:xfrm>
          <a:prstGeom prst="roundRect">
            <a:avLst/>
          </a:prstGeom>
          <a:solidFill>
            <a:srgbClr val="123B6D"/>
          </a:solidFill>
          <a:ln w="12700">
            <a:solidFill>
              <a:srgbClr val="123B6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Text 23"/>
          <p:cNvSpPr/>
          <p:nvPr/>
        </p:nvSpPr>
        <p:spPr>
          <a:xfrm>
            <a:off x="960120" y="5771896"/>
            <a:ext cx="10317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一份文件正确，不代表整体正确。</a:t>
            </a:r>
            <a:endParaRPr lang="en-US" sz="16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6539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B6A5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60350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8E1420"/>
                </a:solidFill>
              </a:rPr>
              <a:t>THE TEAM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23B6D"/>
                </a:solidFill>
              </a:rPr>
              <a:t>AI不会取消审核层级，但会改变每一层的工作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53619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</a:rPr>
              <a:t>减少机械劳动，提升判断密度。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4224528"/>
            <a:ext cx="3154680" cy="1051560"/>
          </a:xfrm>
          <a:prstGeom prst="roundRect">
            <a:avLst/>
          </a:prstGeom>
          <a:solidFill>
            <a:srgbClr val="0B82D8"/>
          </a:solidFill>
          <a:ln w="25400">
            <a:solidFill>
              <a:srgbClr val="FFFFFF"/>
            </a:solidFill>
            <a:prstDash val="solid"/>
          </a:ln>
          <a:effectLst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1051560" y="4425696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Assistant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1560" y="4910328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资料清单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基础核对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缺失文件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977640" y="3054096"/>
            <a:ext cx="3474720" cy="2221992"/>
          </a:xfrm>
          <a:prstGeom prst="roundRect">
            <a:avLst/>
          </a:prstGeom>
          <a:solidFill>
            <a:srgbClr val="8E1420"/>
          </a:solidFill>
          <a:ln w="25400">
            <a:solidFill>
              <a:srgbClr val="FFFFFF"/>
            </a:solidFill>
            <a:prstDash val="solid"/>
          </a:ln>
          <a:effectLst/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4206240" y="325526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Accountant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206240" y="3739896"/>
            <a:ext cx="301752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调查异常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完成workpaper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准备问题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452360" y="1810512"/>
            <a:ext cx="3840480" cy="3465576"/>
          </a:xfrm>
          <a:prstGeom prst="roundRect">
            <a:avLst/>
          </a:prstGeom>
          <a:solidFill>
            <a:srgbClr val="123B6D"/>
          </a:solidFill>
          <a:ln w="25400">
            <a:solidFill>
              <a:srgbClr val="FFFFFF"/>
            </a:solidFill>
            <a:prstDash val="solid"/>
          </a:ln>
          <a:effectLst/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7680960" y="20116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Principal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680960" y="2496312"/>
            <a:ext cx="3383280" cy="2642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重大风险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复杂判断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客户沟通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最终责任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68680" y="1316736"/>
            <a:ext cx="10332720" cy="4434840"/>
          </a:xfrm>
          <a:prstGeom prst="arc">
            <a:avLst/>
          </a:prstGeom>
          <a:solidFill>
            <a:srgbClr val="FFFFFF">
              <a:alpha val="0"/>
            </a:srgbClr>
          </a:solidFill>
          <a:ln w="76200">
            <a:solidFill>
              <a:srgbClr val="C9954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Shape 13"/>
          <p:cNvSpPr/>
          <p:nvPr/>
        </p:nvSpPr>
        <p:spPr>
          <a:xfrm>
            <a:off x="731520" y="5650992"/>
            <a:ext cx="10744200" cy="566928"/>
          </a:xfrm>
          <a:prstGeom prst="roundRect">
            <a:avLst/>
          </a:prstGeom>
          <a:solidFill>
            <a:srgbClr val="123B6D"/>
          </a:solidFill>
          <a:ln w="12700">
            <a:solidFill>
              <a:srgbClr val="123B6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960120" y="5751576"/>
            <a:ext cx="10287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AI贯穿每一层，但不能取代责任层级。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6539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B6A5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60350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8E1420"/>
                </a:solidFill>
              </a:rPr>
              <a:t>START SMALL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23B6D"/>
                </a:solidFill>
              </a:rPr>
              <a:t>不要从“自动给答案”开始，要从“自动找问题”开始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53619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</a:rPr>
              <a:t>建立边界、轨迹与人工审核Gate。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95528" y="4526280"/>
            <a:ext cx="1965960" cy="960120"/>
          </a:xfrm>
          <a:prstGeom prst="roundRect">
            <a:avLst/>
          </a:prstGeom>
          <a:solidFill>
            <a:srgbClr val="0B82D8"/>
          </a:solidFill>
          <a:ln w="19050">
            <a:solidFill>
              <a:srgbClr val="FFFFFF"/>
            </a:solidFill>
            <a:prstDash val="solid"/>
          </a:ln>
          <a:effectLst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905256" y="4672584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25880" y="4690872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低风险流程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054096" y="3995928"/>
            <a:ext cx="1965960" cy="960120"/>
          </a:xfrm>
          <a:prstGeom prst="roundRect">
            <a:avLst/>
          </a:prstGeom>
          <a:solidFill>
            <a:srgbClr val="327FB3"/>
          </a:solidFill>
          <a:ln w="19050">
            <a:solidFill>
              <a:srgbClr val="FFFFFF"/>
            </a:solidFill>
            <a:prstDash val="solid"/>
          </a:ln>
          <a:effectLst/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3163824" y="4142232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584448" y="416052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明确资料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312664" y="3465576"/>
            <a:ext cx="1965960" cy="960120"/>
          </a:xfrm>
          <a:prstGeom prst="roundRect">
            <a:avLst/>
          </a:prstGeom>
          <a:solidFill>
            <a:srgbClr val="C99545"/>
          </a:solidFill>
          <a:ln w="19050">
            <a:solidFill>
              <a:srgbClr val="FFFFFF"/>
            </a:solidFill>
            <a:prstDash val="solid"/>
          </a:ln>
          <a:effectLst/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5422392" y="361188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843016" y="3630168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保留轨迹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571232" y="2935224"/>
            <a:ext cx="1965960" cy="960120"/>
          </a:xfrm>
          <a:prstGeom prst="roundRect">
            <a:avLst/>
          </a:prstGeom>
          <a:solidFill>
            <a:srgbClr val="8E1420"/>
          </a:solidFill>
          <a:ln w="19050">
            <a:solidFill>
              <a:srgbClr val="FFFFFF"/>
            </a:solidFill>
            <a:prstDash val="solid"/>
          </a:ln>
          <a:effectLst/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7680960" y="3081528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101584" y="3099816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人工审核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829800" y="2404872"/>
            <a:ext cx="1965960" cy="960120"/>
          </a:xfrm>
          <a:prstGeom prst="roundRect">
            <a:avLst/>
          </a:prstGeom>
          <a:solidFill>
            <a:srgbClr val="123B6D"/>
          </a:solidFill>
          <a:ln w="19050">
            <a:solidFill>
              <a:srgbClr val="FFFFFF"/>
            </a:solidFill>
            <a:prstDash val="solid"/>
          </a:ln>
          <a:effectLst/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9939528" y="2551176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360152" y="2569464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受控扩大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5650992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2733"/>
                </a:solidFill>
              </a:rPr>
              <a:t>适合先试行：文件整理  ·  交易初分  ·  缺失清单  ·  月度异常  ·  BAS与GL初核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6539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B6A5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60350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8E1420"/>
                </a:solidFill>
              </a:rPr>
              <a:t>MEASURE VALUE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23B6D"/>
                </a:solidFill>
              </a:rPr>
              <a:t>不是只看节省多少时间，而是看结果有没有改善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53619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</a:rPr>
              <a:t>真正的效率，是减少遗漏、返工与错误。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975104"/>
            <a:ext cx="3401568" cy="1325880"/>
          </a:xfrm>
          <a:prstGeom prst="roundRect">
            <a:avLst>
              <a:gd name="adj" fmla="val 5517"/>
            </a:avLst>
          </a:prstGeom>
          <a:solidFill>
            <a:srgbClr val="FFFDF8"/>
          </a:solidFill>
          <a:ln w="12700">
            <a:solidFill>
              <a:srgbClr val="E4D8C8"/>
            </a:solidFill>
            <a:prstDash val="solid"/>
          </a:ln>
          <a:effectLst/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685800" y="1975104"/>
            <a:ext cx="73152" cy="1325880"/>
          </a:xfrm>
          <a:prstGeom prst="rect">
            <a:avLst/>
          </a:prstGeom>
          <a:solidFill>
            <a:srgbClr val="8E1420"/>
          </a:solidFill>
          <a:ln w="12700">
            <a:solidFill>
              <a:srgbClr val="8E142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868680" y="2130552"/>
            <a:ext cx="3081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23B6D"/>
                </a:solidFill>
              </a:rPr>
              <a:t>减少遗漏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560320"/>
            <a:ext cx="3054096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C2733"/>
                </a:solidFill>
              </a:rPr>
              <a:t>不再漏掉银行账户与Supporting Documents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62272" y="1975104"/>
            <a:ext cx="3401568" cy="1325880"/>
          </a:xfrm>
          <a:prstGeom prst="roundRect">
            <a:avLst>
              <a:gd name="adj" fmla="val 5517"/>
            </a:avLst>
          </a:prstGeom>
          <a:solidFill>
            <a:srgbClr val="FFFDF8"/>
          </a:solidFill>
          <a:ln w="12700">
            <a:solidFill>
              <a:srgbClr val="E4D8C8"/>
            </a:solidFill>
            <a:prstDash val="solid"/>
          </a:ln>
          <a:effectLst/>
        </p:spPr>
        <p:txBody>
          <a:bodyPr/>
          <a:lstStyle/>
          <a:p>
            <a:endParaRPr lang="en-AU"/>
          </a:p>
        </p:txBody>
      </p:sp>
      <p:sp>
        <p:nvSpPr>
          <p:cNvPr id="10" name="Shape 8"/>
          <p:cNvSpPr/>
          <p:nvPr/>
        </p:nvSpPr>
        <p:spPr>
          <a:xfrm>
            <a:off x="4462272" y="1975104"/>
            <a:ext cx="73152" cy="1325880"/>
          </a:xfrm>
          <a:prstGeom prst="rect">
            <a:avLst/>
          </a:prstGeom>
          <a:solidFill>
            <a:srgbClr val="0B82D8"/>
          </a:solidFill>
          <a:ln w="12700">
            <a:solidFill>
              <a:srgbClr val="0B82D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4645152" y="2130552"/>
            <a:ext cx="3081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23B6D"/>
                </a:solidFill>
              </a:rPr>
              <a:t>更早发现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45152" y="2560320"/>
            <a:ext cx="3054096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C2733"/>
                </a:solidFill>
              </a:rPr>
              <a:t>问题在BAS或年结前暴露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38744" y="1975104"/>
            <a:ext cx="3401568" cy="1325880"/>
          </a:xfrm>
          <a:prstGeom prst="roundRect">
            <a:avLst>
              <a:gd name="adj" fmla="val 5517"/>
            </a:avLst>
          </a:prstGeom>
          <a:solidFill>
            <a:srgbClr val="FFFDF8"/>
          </a:solidFill>
          <a:ln w="12700">
            <a:solidFill>
              <a:srgbClr val="E4D8C8"/>
            </a:solidFill>
            <a:prstDash val="solid"/>
          </a:ln>
          <a:effectLst/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8238744" y="1975104"/>
            <a:ext cx="73152" cy="1325880"/>
          </a:xfrm>
          <a:prstGeom prst="rect">
            <a:avLst/>
          </a:prstGeom>
          <a:solidFill>
            <a:srgbClr val="C99545"/>
          </a:solidFill>
          <a:ln w="12700">
            <a:solidFill>
              <a:srgbClr val="C9954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8421624" y="2130552"/>
            <a:ext cx="3081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23B6D"/>
                </a:solidFill>
              </a:rPr>
              <a:t>扩大检查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21624" y="2560320"/>
            <a:ext cx="3054096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C2733"/>
                </a:solidFill>
              </a:rPr>
              <a:t>跨年度、跨实体、跨文件比较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3584448"/>
            <a:ext cx="3401568" cy="1325880"/>
          </a:xfrm>
          <a:prstGeom prst="roundRect">
            <a:avLst>
              <a:gd name="adj" fmla="val 5517"/>
            </a:avLst>
          </a:prstGeom>
          <a:solidFill>
            <a:srgbClr val="FFFDF8"/>
          </a:solidFill>
          <a:ln w="12700">
            <a:solidFill>
              <a:srgbClr val="E4D8C8"/>
            </a:solidFill>
            <a:prstDash val="solid"/>
          </a:ln>
          <a:effectLst/>
        </p:spPr>
        <p:txBody>
          <a:bodyPr/>
          <a:lstStyle/>
          <a:p>
            <a:endParaRPr lang="en-AU"/>
          </a:p>
        </p:txBody>
      </p:sp>
      <p:sp>
        <p:nvSpPr>
          <p:cNvPr id="18" name="Shape 16"/>
          <p:cNvSpPr/>
          <p:nvPr/>
        </p:nvSpPr>
        <p:spPr>
          <a:xfrm>
            <a:off x="685800" y="3584448"/>
            <a:ext cx="73152" cy="1325880"/>
          </a:xfrm>
          <a:prstGeom prst="rect">
            <a:avLst/>
          </a:prstGeom>
          <a:solidFill>
            <a:srgbClr val="20735A"/>
          </a:solidFill>
          <a:ln w="12700">
            <a:solidFill>
              <a:srgbClr val="20735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868680" y="3739896"/>
            <a:ext cx="3081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23B6D"/>
                </a:solidFill>
              </a:rPr>
              <a:t>减少返工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" y="4169664"/>
            <a:ext cx="3054096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C2733"/>
                </a:solidFill>
              </a:rPr>
              <a:t>员工先修正，Principal不在最后阶段救火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462272" y="3584448"/>
            <a:ext cx="3401568" cy="1325880"/>
          </a:xfrm>
          <a:prstGeom prst="roundRect">
            <a:avLst>
              <a:gd name="adj" fmla="val 5517"/>
            </a:avLst>
          </a:prstGeom>
          <a:solidFill>
            <a:srgbClr val="FFFDF8"/>
          </a:solidFill>
          <a:ln w="12700">
            <a:solidFill>
              <a:srgbClr val="E4D8C8"/>
            </a:solidFill>
            <a:prstDash val="solid"/>
          </a:ln>
          <a:effectLst/>
        </p:spPr>
        <p:txBody>
          <a:bodyPr/>
          <a:lstStyle/>
          <a:p>
            <a:endParaRPr lang="en-AU"/>
          </a:p>
        </p:txBody>
      </p:sp>
      <p:sp>
        <p:nvSpPr>
          <p:cNvPr id="22" name="Shape 20"/>
          <p:cNvSpPr/>
          <p:nvPr/>
        </p:nvSpPr>
        <p:spPr>
          <a:xfrm>
            <a:off x="4462272" y="3584448"/>
            <a:ext cx="73152" cy="1325880"/>
          </a:xfrm>
          <a:prstGeom prst="rect">
            <a:avLst/>
          </a:prstGeom>
          <a:solidFill>
            <a:srgbClr val="123B6D"/>
          </a:solidFill>
          <a:ln w="12700">
            <a:solidFill>
              <a:srgbClr val="123B6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" name="Text 21"/>
          <p:cNvSpPr/>
          <p:nvPr/>
        </p:nvSpPr>
        <p:spPr>
          <a:xfrm>
            <a:off x="4645152" y="3739896"/>
            <a:ext cx="3081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23B6D"/>
                </a:solidFill>
              </a:rPr>
              <a:t>更多沟通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645152" y="4169664"/>
            <a:ext cx="3054096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C2733"/>
                </a:solidFill>
              </a:rPr>
              <a:t>把时间还给客户理解与建议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238744" y="3584448"/>
            <a:ext cx="3401568" cy="1325880"/>
          </a:xfrm>
          <a:prstGeom prst="roundRect">
            <a:avLst>
              <a:gd name="adj" fmla="val 5517"/>
            </a:avLst>
          </a:prstGeom>
          <a:solidFill>
            <a:srgbClr val="FFFDF8"/>
          </a:solidFill>
          <a:ln w="12700">
            <a:solidFill>
              <a:srgbClr val="E4D8C8"/>
            </a:solidFill>
            <a:prstDash val="solid"/>
          </a:ln>
          <a:effectLst/>
        </p:spPr>
        <p:txBody>
          <a:bodyPr/>
          <a:lstStyle/>
          <a:p>
            <a:endParaRPr lang="en-AU"/>
          </a:p>
        </p:txBody>
      </p:sp>
      <p:sp>
        <p:nvSpPr>
          <p:cNvPr id="26" name="Shape 24"/>
          <p:cNvSpPr/>
          <p:nvPr/>
        </p:nvSpPr>
        <p:spPr>
          <a:xfrm>
            <a:off x="8238744" y="3584448"/>
            <a:ext cx="73152" cy="1325880"/>
          </a:xfrm>
          <a:prstGeom prst="rect">
            <a:avLst/>
          </a:prstGeom>
          <a:solidFill>
            <a:srgbClr val="7B4BB7"/>
          </a:solidFill>
          <a:ln w="12700">
            <a:solidFill>
              <a:srgbClr val="7B4BB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" name="Text 25"/>
          <p:cNvSpPr/>
          <p:nvPr/>
        </p:nvSpPr>
        <p:spPr>
          <a:xfrm>
            <a:off x="8421624" y="3739896"/>
            <a:ext cx="3081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23B6D"/>
                </a:solidFill>
              </a:rPr>
              <a:t>降低成本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21624" y="4169664"/>
            <a:ext cx="3054096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C2733"/>
                </a:solidFill>
              </a:rPr>
              <a:t>客户获得更高质量的服务结果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31520" y="5650992"/>
            <a:ext cx="10744200" cy="566928"/>
          </a:xfrm>
          <a:prstGeom prst="roundRect">
            <a:avLst/>
          </a:prstGeom>
          <a:solidFill>
            <a:srgbClr val="123B6D"/>
          </a:solidFill>
          <a:ln w="12700">
            <a:solidFill>
              <a:srgbClr val="123B6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0" name="Text 28"/>
          <p:cNvSpPr/>
          <p:nvPr/>
        </p:nvSpPr>
        <p:spPr>
          <a:xfrm>
            <a:off x="960120" y="5751576"/>
            <a:ext cx="10287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速度更快但错误更多，不是真正的效率。</a:t>
            </a:r>
            <a:endParaRPr lang="en-US" sz="16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6539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B6A5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60350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8E1420"/>
                </a:solidFill>
              </a:rPr>
              <a:t>THE OUTCOME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18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23B6D"/>
                </a:solidFill>
              </a:rPr>
              <a:t>真正的“物美价廉”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53619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</a:rPr>
              <a:t>不是减少必要程序，而是用AI保留质量、降低成本、释放专业价值。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1993392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82D8"/>
                </a:solidFill>
              </a:rPr>
              <a:t>AI帮助我们降低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0B82D8"/>
                </a:solidFill>
              </a:rPr>
              <a:t>正确工作的成本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53712" y="1993392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E1420"/>
                </a:solidFill>
              </a:rPr>
              <a:t>会计师负责把数据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8E1420"/>
                </a:solidFill>
              </a:rPr>
              <a:t>变成判断和建议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47888" y="1993392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0735A"/>
                </a:solidFill>
              </a:rPr>
              <a:t>客户得到真正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20735A"/>
                </a:solidFill>
              </a:rPr>
              <a:t>物美价廉的服务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977640" y="229514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9545"/>
                </a:solidFill>
              </a:rPr>
              <a:t>×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699248" y="229514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9545"/>
                </a:solidFill>
              </a:rPr>
              <a:t>=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1097280" y="3858768"/>
            <a:ext cx="9966960" cy="1"/>
          </a:xfrm>
          <a:prstGeom prst="line">
            <a:avLst/>
          </a:prstGeom>
          <a:noFill/>
          <a:ln w="19050">
            <a:solidFill>
              <a:srgbClr val="D9CDB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1143000" y="4315968"/>
            <a:ext cx="26698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23B6D"/>
                </a:solidFill>
              </a:rPr>
              <a:t>让AI处理重复。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3977640" y="4315968"/>
            <a:ext cx="30615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23B6D"/>
                </a:solidFill>
              </a:rPr>
              <a:t>让会计师负责判断。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7306575" y="4140680"/>
            <a:ext cx="3864634" cy="824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23B6D"/>
                </a:solidFill>
              </a:rPr>
              <a:t>让老板更早看到风险和机会。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3476445" y="5577840"/>
            <a:ext cx="4725723" cy="347472"/>
          </a:xfrm>
          <a:prstGeom prst="rect">
            <a:avLst/>
          </a:prstGeom>
          <a:solidFill>
            <a:srgbClr val="8E1420"/>
          </a:solidFill>
          <a:ln>
            <a:solidFill>
              <a:srgbClr val="8E142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谢谢大家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6539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B6A5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1004</Words>
  <Application>Microsoft Office PowerPoint</Application>
  <PresentationFormat>Widescreen</PresentationFormat>
  <Paragraphs>293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ML Tax Solution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AI对会计行业的影响：如何让专业服务真正做到物美价廉</dc:title>
  <dc:subject>AI对会计行业的影响</dc:subject>
  <dc:creator>Ming Li</dc:creator>
  <cp:lastModifiedBy>Ming Li</cp:lastModifiedBy>
  <cp:revision>27</cp:revision>
  <dcterms:created xsi:type="dcterms:W3CDTF">2026-09-29T08:06:10Z</dcterms:created>
  <dcterms:modified xsi:type="dcterms:W3CDTF">2026-09-29T08:45:18Z</dcterms:modified>
</cp:coreProperties>
</file>